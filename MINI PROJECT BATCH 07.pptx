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aleway"/>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0C3D50-A11E-47CE-B016-0AAAA16DD137}">
  <a:tblStyle styleId="{680C3D50-A11E-47CE-B016-0AAAA16DD13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aleway-italic.fntdata"/><Relationship Id="rId10" Type="http://schemas.openxmlformats.org/officeDocument/2006/relationships/slide" Target="slides/slide4.xml"/><Relationship Id="rId32" Type="http://schemas.openxmlformats.org/officeDocument/2006/relationships/font" Target="fonts/Raleway-bold.fntdata"/><Relationship Id="rId13" Type="http://schemas.openxmlformats.org/officeDocument/2006/relationships/slide" Target="slides/slide7.xml"/><Relationship Id="rId35" Type="http://schemas.openxmlformats.org/officeDocument/2006/relationships/font" Target="fonts/Lato-regular.fntdata"/><Relationship Id="rId12" Type="http://schemas.openxmlformats.org/officeDocument/2006/relationships/slide" Target="slides/slide6.xml"/><Relationship Id="rId34" Type="http://schemas.openxmlformats.org/officeDocument/2006/relationships/font" Target="fonts/Raleway-boldItalic.fntdata"/><Relationship Id="rId15" Type="http://schemas.openxmlformats.org/officeDocument/2006/relationships/slide" Target="slides/slide9.xml"/><Relationship Id="rId37" Type="http://schemas.openxmlformats.org/officeDocument/2006/relationships/font" Target="fonts/Lato-italic.fntdata"/><Relationship Id="rId14" Type="http://schemas.openxmlformats.org/officeDocument/2006/relationships/slide" Target="slides/slide8.xml"/><Relationship Id="rId36" Type="http://schemas.openxmlformats.org/officeDocument/2006/relationships/font" Target="fonts/Lato-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La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e31624c5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1e31624c5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1e31624c5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1e31624c5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e31624c5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e31624c5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274650" y="1446750"/>
            <a:ext cx="7979700" cy="1430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4200"/>
              <a:buNone/>
            </a:pPr>
            <a:r>
              <a:rPr b="1" lang="en" sz="2300">
                <a:solidFill>
                  <a:srgbClr val="351C75"/>
                </a:solidFill>
                <a:latin typeface="Times New Roman"/>
                <a:ea typeface="Times New Roman"/>
                <a:cs typeface="Times New Roman"/>
                <a:sym typeface="Times New Roman"/>
              </a:rPr>
              <a:t>FORECASTING NETFLIX STOCK PRICES WITH LSTM:</a:t>
            </a:r>
            <a:endParaRPr b="1" sz="2300">
              <a:solidFill>
                <a:srgbClr val="351C75"/>
              </a:solidFill>
              <a:latin typeface="Times New Roman"/>
              <a:ea typeface="Times New Roman"/>
              <a:cs typeface="Times New Roman"/>
              <a:sym typeface="Times New Roman"/>
            </a:endParaRPr>
          </a:p>
          <a:p>
            <a:pPr indent="0" lvl="0" marL="0" rtl="0" algn="just">
              <a:lnSpc>
                <a:spcPct val="115000"/>
              </a:lnSpc>
              <a:spcBef>
                <a:spcPts val="0"/>
              </a:spcBef>
              <a:spcAft>
                <a:spcPts val="0"/>
              </a:spcAft>
              <a:buSzPts val="4200"/>
              <a:buNone/>
            </a:pPr>
            <a:r>
              <a:rPr b="1" lang="en" sz="2300">
                <a:solidFill>
                  <a:srgbClr val="351C75"/>
                </a:solidFill>
                <a:latin typeface="Times New Roman"/>
                <a:ea typeface="Times New Roman"/>
                <a:cs typeface="Times New Roman"/>
                <a:sym typeface="Times New Roman"/>
              </a:rPr>
              <a:t>MACHINE LEARNING INSIGHTS.</a:t>
            </a:r>
            <a:endParaRPr b="1" sz="2300">
              <a:solidFill>
                <a:srgbClr val="351C75"/>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4200"/>
              <a:buNone/>
            </a:pPr>
            <a:r>
              <a:t/>
            </a:r>
            <a:endParaRPr b="0" sz="2300">
              <a:solidFill>
                <a:srgbClr val="351C75"/>
              </a:solidFill>
              <a:latin typeface="Times New Roman"/>
              <a:ea typeface="Times New Roman"/>
              <a:cs typeface="Times New Roman"/>
              <a:sym typeface="Times New Roman"/>
            </a:endParaRPr>
          </a:p>
        </p:txBody>
      </p:sp>
      <p:sp>
        <p:nvSpPr>
          <p:cNvPr id="87" name="Google Shape;87;p13"/>
          <p:cNvSpPr txBox="1"/>
          <p:nvPr>
            <p:ph idx="1" type="subTitle"/>
          </p:nvPr>
        </p:nvSpPr>
        <p:spPr>
          <a:xfrm>
            <a:off x="274638" y="2877150"/>
            <a:ext cx="8594700" cy="210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t/>
            </a:r>
            <a:endParaRPr b="1" sz="2344">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SzPts val="1600"/>
              <a:buNone/>
            </a:pPr>
            <a:r>
              <a:rPr b="1" lang="en" sz="2300">
                <a:solidFill>
                  <a:schemeClr val="dk2"/>
                </a:solidFill>
                <a:latin typeface="Times New Roman"/>
                <a:ea typeface="Times New Roman"/>
                <a:cs typeface="Times New Roman"/>
                <a:sym typeface="Times New Roman"/>
              </a:rPr>
              <a:t>Team:</a:t>
            </a:r>
            <a:endParaRPr b="1" sz="23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700">
                <a:solidFill>
                  <a:schemeClr val="dk2"/>
                </a:solidFill>
                <a:latin typeface="Times New Roman"/>
                <a:ea typeface="Times New Roman"/>
                <a:cs typeface="Times New Roman"/>
                <a:sym typeface="Times New Roman"/>
              </a:rPr>
              <a:t>B. LUCKY HEMANTH RAJ (21P61A3207)</a:t>
            </a:r>
            <a:endParaRPr sz="17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700">
                <a:solidFill>
                  <a:schemeClr val="dk2"/>
                </a:solidFill>
                <a:latin typeface="Times New Roman"/>
                <a:ea typeface="Times New Roman"/>
                <a:cs typeface="Times New Roman"/>
                <a:sym typeface="Times New Roman"/>
              </a:rPr>
              <a:t>CH.SRI NAGA SANTOSH (21P61A3212)</a:t>
            </a:r>
            <a:endParaRPr sz="17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700">
                <a:solidFill>
                  <a:schemeClr val="dk2"/>
                </a:solidFill>
                <a:latin typeface="Times New Roman"/>
                <a:ea typeface="Times New Roman"/>
                <a:cs typeface="Times New Roman"/>
                <a:sym typeface="Times New Roman"/>
              </a:rPr>
              <a:t>J.SAI AKANKSHA (21P61A3224)</a:t>
            </a:r>
            <a:endParaRPr sz="17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700">
                <a:solidFill>
                  <a:schemeClr val="dk2"/>
                </a:solidFill>
                <a:latin typeface="Times New Roman"/>
                <a:ea typeface="Times New Roman"/>
                <a:cs typeface="Times New Roman"/>
                <a:sym typeface="Times New Roman"/>
              </a:rPr>
              <a:t>K. INDRANI (21P61A3226)</a:t>
            </a:r>
            <a:endParaRPr sz="1700">
              <a:solidFill>
                <a:schemeClr val="dk2"/>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600"/>
              <a:buNone/>
            </a:pPr>
            <a:r>
              <a:t/>
            </a:r>
            <a:endParaRPr sz="1700">
              <a:latin typeface="Times New Roman"/>
              <a:ea typeface="Times New Roman"/>
              <a:cs typeface="Times New Roman"/>
              <a:sym typeface="Times New Roman"/>
            </a:endParaRPr>
          </a:p>
        </p:txBody>
      </p:sp>
      <p:pic>
        <p:nvPicPr>
          <p:cNvPr id="88" name="Google Shape;88;p13"/>
          <p:cNvPicPr preferRelativeResize="0"/>
          <p:nvPr/>
        </p:nvPicPr>
        <p:blipFill rotWithShape="1">
          <a:blip r:embed="rId3">
            <a:alphaModFix/>
          </a:blip>
          <a:srcRect b="0" l="0" r="0" t="0"/>
          <a:stretch/>
        </p:blipFill>
        <p:spPr>
          <a:xfrm>
            <a:off x="110300" y="136100"/>
            <a:ext cx="8923376" cy="1125150"/>
          </a:xfrm>
          <a:prstGeom prst="rect">
            <a:avLst/>
          </a:prstGeom>
          <a:noFill/>
          <a:ln>
            <a:noFill/>
          </a:ln>
        </p:spPr>
      </p:pic>
      <p:sp>
        <p:nvSpPr>
          <p:cNvPr id="89" name="Google Shape;89;p13"/>
          <p:cNvSpPr txBox="1"/>
          <p:nvPr/>
        </p:nvSpPr>
        <p:spPr>
          <a:xfrm>
            <a:off x="274650" y="2571750"/>
            <a:ext cx="8759100" cy="54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44"/>
              <a:buFont typeface="Arial"/>
              <a:buNone/>
            </a:pPr>
            <a:r>
              <a:rPr b="1" i="0" lang="en" sz="2344" u="none" cap="none" strike="noStrike">
                <a:solidFill>
                  <a:schemeClr val="dk2"/>
                </a:solidFill>
                <a:latin typeface="Times New Roman"/>
                <a:ea typeface="Times New Roman"/>
                <a:cs typeface="Times New Roman"/>
                <a:sym typeface="Times New Roman"/>
              </a:rPr>
              <a:t>Guide</a:t>
            </a:r>
            <a:r>
              <a:rPr b="1" i="0" lang="en" sz="2200" u="none" cap="none" strike="noStrike">
                <a:solidFill>
                  <a:schemeClr val="dk2"/>
                </a:solidFill>
                <a:latin typeface="Times New Roman"/>
                <a:ea typeface="Times New Roman"/>
                <a:cs typeface="Times New Roman"/>
                <a:sym typeface="Times New Roman"/>
              </a:rPr>
              <a:t>:</a:t>
            </a:r>
            <a:r>
              <a:rPr b="0" i="0" lang="en" sz="1994" u="none" cap="none" strike="noStrike">
                <a:solidFill>
                  <a:schemeClr val="dk2"/>
                </a:solidFill>
                <a:latin typeface="Times New Roman"/>
                <a:ea typeface="Times New Roman"/>
                <a:cs typeface="Times New Roman"/>
                <a:sym typeface="Times New Roman"/>
              </a:rPr>
              <a:t>Mr. Mahender Saragada </a:t>
            </a:r>
            <a:endParaRPr b="0" i="0" sz="1994"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654500" y="581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3220">
                <a:latin typeface="Times New Roman"/>
                <a:ea typeface="Times New Roman"/>
                <a:cs typeface="Times New Roman"/>
                <a:sym typeface="Times New Roman"/>
              </a:rPr>
              <a:t>CONTENT</a:t>
            </a:r>
            <a:endParaRPr sz="3220">
              <a:latin typeface="Times New Roman"/>
              <a:ea typeface="Times New Roman"/>
              <a:cs typeface="Times New Roman"/>
              <a:sym typeface="Times New Roman"/>
            </a:endParaRPr>
          </a:p>
        </p:txBody>
      </p:sp>
      <p:sp>
        <p:nvSpPr>
          <p:cNvPr id="95" name="Google Shape;95;p14"/>
          <p:cNvSpPr txBox="1"/>
          <p:nvPr>
            <p:ph idx="1" type="body"/>
          </p:nvPr>
        </p:nvSpPr>
        <p:spPr>
          <a:xfrm>
            <a:off x="727650" y="1324175"/>
            <a:ext cx="7688700" cy="3735000"/>
          </a:xfrm>
          <a:prstGeom prst="rect">
            <a:avLst/>
          </a:prstGeom>
          <a:noFill/>
          <a:ln>
            <a:noFill/>
          </a:ln>
        </p:spPr>
        <p:txBody>
          <a:bodyPr anchorCtr="0" anchor="t" bIns="91425" lIns="91425" spcFirstLastPara="1" rIns="91425" wrap="square" tIns="91425">
            <a:normAutofit fontScale="85000" lnSpcReduction="20000"/>
          </a:bodyPr>
          <a:lstStyle/>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ABSTRACT</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INTRODUCTION</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LITERATURE SURVEY</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EXISTING SYSTEM</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PROPOSED SYSTEM</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METHODOLOGY</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SYSTEM REQUIREMENTS</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DESIGN</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IMPLEMENTATION</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CONCLUSION</a:t>
            </a:r>
            <a:endParaRPr sz="2600">
              <a:latin typeface="Times New Roman"/>
              <a:ea typeface="Times New Roman"/>
              <a:cs typeface="Times New Roman"/>
              <a:sym typeface="Times New Roman"/>
            </a:endParaRPr>
          </a:p>
          <a:p>
            <a:pPr indent="-368935" lvl="0" marL="457200" rtl="0" algn="l">
              <a:lnSpc>
                <a:spcPct val="115000"/>
              </a:lnSpc>
              <a:spcBef>
                <a:spcPts val="0"/>
              </a:spcBef>
              <a:spcAft>
                <a:spcPts val="0"/>
              </a:spcAft>
              <a:buSzPct val="100000"/>
              <a:buFont typeface="Times New Roman"/>
              <a:buChar char="●"/>
            </a:pPr>
            <a:r>
              <a:rPr lang="en" sz="2600">
                <a:latin typeface="Times New Roman"/>
                <a:ea typeface="Times New Roman"/>
                <a:cs typeface="Times New Roman"/>
                <a:sym typeface="Times New Roman"/>
              </a:rPr>
              <a:t>FUTURE SCOPE</a:t>
            </a:r>
            <a:endParaRPr sz="2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19150" y="571575"/>
            <a:ext cx="7505700" cy="712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n" sz="2700">
                <a:latin typeface="Times New Roman"/>
                <a:ea typeface="Times New Roman"/>
                <a:cs typeface="Times New Roman"/>
                <a:sym typeface="Times New Roman"/>
              </a:rPr>
              <a:t>ABSTRACT</a:t>
            </a:r>
            <a:endParaRPr sz="2700">
              <a:latin typeface="Times New Roman"/>
              <a:ea typeface="Times New Roman"/>
              <a:cs typeface="Times New Roman"/>
              <a:sym typeface="Times New Roman"/>
            </a:endParaRPr>
          </a:p>
        </p:txBody>
      </p:sp>
      <p:sp>
        <p:nvSpPr>
          <p:cNvPr id="101" name="Google Shape;101;p15"/>
          <p:cNvSpPr txBox="1"/>
          <p:nvPr>
            <p:ph idx="1" type="body"/>
          </p:nvPr>
        </p:nvSpPr>
        <p:spPr>
          <a:xfrm>
            <a:off x="819150" y="1446750"/>
            <a:ext cx="7505700" cy="33042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300"/>
              <a:buNone/>
            </a:pPr>
            <a:r>
              <a:rPr lang="en" sz="1500">
                <a:latin typeface="Times New Roman"/>
                <a:ea typeface="Times New Roman"/>
                <a:cs typeface="Times New Roman"/>
                <a:sym typeface="Times New Roman"/>
              </a:rPr>
              <a:t>This project employs machine learning to analyze and forecast Netflix (NFLX) stock prices using historical data from Yahoo Finance. The study covers 13 years of stock data, including attributes like opening, highest, lowest prices, adjusted close, and trading volume. A candlestick chart visualizes stock price movements, while correlation analysis explores relationships between various attributes and the closing price. The core involves an LSTM (Long Short-Term Memory) neural network to capture temporal dependencies. The model, with multiple LSTM layers and dense layers, is optimized using the Adam optimizer with a mean squared error loss function. The dataset is divided into training and testing sets to evaluate model performance. Training through iterative epochs enhances prediction accuracy. Post-training, the model predicts Netflix's closing price using new input features. This project showcases the application of advanced machine learning techniques in financial data analysis, highlighting their potential to improve decision-making in the stock market.</a:t>
            </a:r>
            <a:endParaRPr sz="1500">
              <a:latin typeface="Times New Roman"/>
              <a:ea typeface="Times New Roman"/>
              <a:cs typeface="Times New Roman"/>
              <a:sym typeface="Times New Roman"/>
            </a:endParaRPr>
          </a:p>
          <a:p>
            <a:pPr indent="0" lvl="0" marL="0" rtl="0" algn="just">
              <a:lnSpc>
                <a:spcPct val="115000"/>
              </a:lnSpc>
              <a:spcBef>
                <a:spcPts val="0"/>
              </a:spcBef>
              <a:spcAft>
                <a:spcPts val="1200"/>
              </a:spcAft>
              <a:buSzPts val="1300"/>
              <a:buNone/>
            </a:pPr>
            <a:r>
              <a:t/>
            </a:r>
            <a:endParaRPr sz="15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7650" y="57447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611">
                <a:latin typeface="Times New Roman"/>
                <a:ea typeface="Times New Roman"/>
                <a:cs typeface="Times New Roman"/>
                <a:sym typeface="Times New Roman"/>
              </a:rPr>
              <a:t>INTRODUCTION</a:t>
            </a:r>
            <a:endParaRPr sz="2611">
              <a:latin typeface="Times New Roman"/>
              <a:ea typeface="Times New Roman"/>
              <a:cs typeface="Times New Roman"/>
              <a:sym typeface="Times New Roman"/>
            </a:endParaRPr>
          </a:p>
        </p:txBody>
      </p:sp>
      <p:sp>
        <p:nvSpPr>
          <p:cNvPr id="107" name="Google Shape;107;p16"/>
          <p:cNvSpPr txBox="1"/>
          <p:nvPr>
            <p:ph idx="1" type="body"/>
          </p:nvPr>
        </p:nvSpPr>
        <p:spPr>
          <a:xfrm>
            <a:off x="729450" y="1378900"/>
            <a:ext cx="7688700" cy="3644100"/>
          </a:xfrm>
          <a:prstGeom prst="rect">
            <a:avLst/>
          </a:prstGeom>
          <a:noFill/>
          <a:ln>
            <a:noFill/>
          </a:ln>
        </p:spPr>
        <p:txBody>
          <a:bodyPr anchorCtr="0" anchor="t" bIns="91425" lIns="91425" spcFirstLastPara="1" rIns="91425" wrap="square" tIns="91425">
            <a:noAutofit/>
          </a:bodyPr>
          <a:lstStyle/>
          <a:p>
            <a:pPr indent="-323850" lvl="0" marL="457200" rtl="0" algn="just">
              <a:lnSpc>
                <a:spcPct val="115000"/>
              </a:lnSpc>
              <a:spcBef>
                <a:spcPts val="1200"/>
              </a:spcBef>
              <a:spcAft>
                <a:spcPts val="0"/>
              </a:spcAft>
              <a:buClr>
                <a:schemeClr val="accent1"/>
              </a:buClr>
              <a:buSzPts val="1500"/>
              <a:buFont typeface="Arial"/>
              <a:buAutoNum type="arabicPeriod"/>
            </a:pPr>
            <a:r>
              <a:rPr b="1" lang="en" sz="1500">
                <a:latin typeface="Times New Roman"/>
                <a:ea typeface="Times New Roman"/>
                <a:cs typeface="Times New Roman"/>
                <a:sym typeface="Times New Roman"/>
              </a:rPr>
              <a:t>Founding and Initial Service</a:t>
            </a:r>
            <a:r>
              <a:rPr lang="en" sz="1500">
                <a:latin typeface="Times New Roman"/>
                <a:ea typeface="Times New Roman"/>
                <a:cs typeface="Times New Roman"/>
                <a:sym typeface="Times New Roman"/>
              </a:rPr>
              <a:t>: Netflix was founded in August 1997 by Marc Randolph and Reed Hastings in Scotts Valley, California, initially operating as a movie rental service that mailed DVDs to customers.</a:t>
            </a:r>
            <a:endParaRPr sz="1500">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accent1"/>
              </a:buClr>
              <a:buSzPts val="1500"/>
              <a:buFont typeface="Arial"/>
              <a:buAutoNum type="arabicPeriod"/>
            </a:pPr>
            <a:r>
              <a:rPr b="1" lang="en" sz="1500">
                <a:latin typeface="Times New Roman"/>
                <a:ea typeface="Times New Roman"/>
                <a:cs typeface="Times New Roman"/>
                <a:sym typeface="Times New Roman"/>
              </a:rPr>
              <a:t>Global Expansion</a:t>
            </a:r>
            <a:r>
              <a:rPr lang="en" sz="1500">
                <a:latin typeface="Times New Roman"/>
                <a:ea typeface="Times New Roman"/>
                <a:cs typeface="Times New Roman"/>
                <a:sym typeface="Times New Roman"/>
              </a:rPr>
              <a:t>: Over time, Netflix transitioned from a DVD rental service to a streaming platform and now serves over 151 million paid subscribers across more than 190 countries.</a:t>
            </a:r>
            <a:endParaRPr sz="1500">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accent1"/>
              </a:buClr>
              <a:buSzPts val="1500"/>
              <a:buFont typeface="Arial"/>
              <a:buAutoNum type="arabicPeriod"/>
            </a:pPr>
            <a:r>
              <a:rPr b="1" lang="en" sz="1500">
                <a:latin typeface="Times New Roman"/>
                <a:ea typeface="Times New Roman"/>
                <a:cs typeface="Times New Roman"/>
                <a:sym typeface="Times New Roman"/>
              </a:rPr>
              <a:t>Content Diversity</a:t>
            </a:r>
            <a:r>
              <a:rPr lang="en" sz="1500">
                <a:latin typeface="Times New Roman"/>
                <a:ea typeface="Times New Roman"/>
                <a:cs typeface="Times New Roman"/>
                <a:sym typeface="Times New Roman"/>
              </a:rPr>
              <a:t>: Netflix offers a wide range of content, including TV series, documentaries, and feature films, spanning various genres and languages, with an increasing focus on original productions​(netflix).</a:t>
            </a:r>
            <a:endParaRPr sz="1500">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accent1"/>
              </a:buClr>
              <a:buSzPts val="1500"/>
              <a:buFont typeface="Arial"/>
              <a:buAutoNum type="arabicPeriod"/>
            </a:pPr>
            <a:r>
              <a:rPr b="1" lang="en" sz="1500">
                <a:latin typeface="Times New Roman"/>
                <a:ea typeface="Times New Roman"/>
                <a:cs typeface="Times New Roman"/>
                <a:sym typeface="Times New Roman"/>
              </a:rPr>
              <a:t>Innovative Business Model</a:t>
            </a:r>
            <a:r>
              <a:rPr lang="en" sz="1500">
                <a:latin typeface="Times New Roman"/>
                <a:ea typeface="Times New Roman"/>
                <a:cs typeface="Times New Roman"/>
                <a:sym typeface="Times New Roman"/>
              </a:rPr>
              <a:t>: Netflix revolutionized the entertainment industry by shifting from a pay-per-rental model to a subscription-based service, allowing users to stream unlimited content for a fixed monthly fee. This move was instrumental in its growth and global dominance​(netflix).</a:t>
            </a:r>
            <a:endParaRPr sz="1500">
              <a:latin typeface="Times New Roman"/>
              <a:ea typeface="Times New Roman"/>
              <a:cs typeface="Times New Roman"/>
              <a:sym typeface="Times New Roman"/>
            </a:endParaRPr>
          </a:p>
          <a:p>
            <a:pPr indent="0" lvl="0" marL="0" rtl="0" algn="just">
              <a:lnSpc>
                <a:spcPct val="115000"/>
              </a:lnSpc>
              <a:spcBef>
                <a:spcPts val="1200"/>
              </a:spcBef>
              <a:spcAft>
                <a:spcPts val="0"/>
              </a:spcAft>
              <a:buSzPts val="770"/>
              <a:buNone/>
            </a:pPr>
            <a:r>
              <a:t/>
            </a:r>
            <a:endParaRPr sz="870">
              <a:solidFill>
                <a:srgbClr val="000000"/>
              </a:solidFill>
              <a:latin typeface="Arial"/>
              <a:ea typeface="Arial"/>
              <a:cs typeface="Arial"/>
              <a:sym typeface="Arial"/>
            </a:endParaRPr>
          </a:p>
          <a:p>
            <a:pPr indent="0" lvl="0" marL="0" rtl="0" algn="just">
              <a:lnSpc>
                <a:spcPct val="115000"/>
              </a:lnSpc>
              <a:spcBef>
                <a:spcPts val="0"/>
              </a:spcBef>
              <a:spcAft>
                <a:spcPts val="1200"/>
              </a:spcAft>
              <a:buSzPts val="770"/>
              <a:buNone/>
            </a:pPr>
            <a:r>
              <a:t/>
            </a:r>
            <a:endParaRPr sz="101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143475" y="487800"/>
            <a:ext cx="8831100" cy="631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SzPct val="97400"/>
              <a:buNone/>
            </a:pPr>
            <a:r>
              <a:rPr lang="en" sz="2966">
                <a:latin typeface="Times New Roman"/>
                <a:ea typeface="Times New Roman"/>
                <a:cs typeface="Times New Roman"/>
                <a:sym typeface="Times New Roman"/>
              </a:rPr>
              <a:t>LITERATURE SURVEY</a:t>
            </a:r>
            <a:endParaRPr sz="2966">
              <a:latin typeface="Times New Roman"/>
              <a:ea typeface="Times New Roman"/>
              <a:cs typeface="Times New Roman"/>
              <a:sym typeface="Times New Roman"/>
            </a:endParaRPr>
          </a:p>
          <a:p>
            <a:pPr indent="0" lvl="0" marL="0" rtl="0" algn="l">
              <a:lnSpc>
                <a:spcPct val="115000"/>
              </a:lnSpc>
              <a:spcBef>
                <a:spcPts val="1200"/>
              </a:spcBef>
              <a:spcAft>
                <a:spcPts val="1200"/>
              </a:spcAft>
              <a:buSzPct val="111111"/>
              <a:buNone/>
            </a:pPr>
            <a:r>
              <a:t/>
            </a:r>
            <a:endParaRPr b="1">
              <a:latin typeface="Times New Roman"/>
              <a:ea typeface="Times New Roman"/>
              <a:cs typeface="Times New Roman"/>
              <a:sym typeface="Times New Roman"/>
            </a:endParaRPr>
          </a:p>
        </p:txBody>
      </p:sp>
      <p:graphicFrame>
        <p:nvGraphicFramePr>
          <p:cNvPr id="113" name="Google Shape;113;p17"/>
          <p:cNvGraphicFramePr/>
          <p:nvPr/>
        </p:nvGraphicFramePr>
        <p:xfrm>
          <a:off x="-25" y="1237175"/>
          <a:ext cx="3000000" cy="3000000"/>
        </p:xfrm>
        <a:graphic>
          <a:graphicData uri="http://schemas.openxmlformats.org/drawingml/2006/table">
            <a:tbl>
              <a:tblPr>
                <a:noFill/>
                <a:tableStyleId>{680C3D50-A11E-47CE-B016-0AAAA16DD137}</a:tableStyleId>
              </a:tblPr>
              <a:tblGrid>
                <a:gridCol w="1306400"/>
                <a:gridCol w="1306275"/>
                <a:gridCol w="1306275"/>
                <a:gridCol w="1306275"/>
                <a:gridCol w="1306275"/>
                <a:gridCol w="1306275"/>
                <a:gridCol w="1306275"/>
              </a:tblGrid>
              <a:tr h="5805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S No</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Title</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Author</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Journal Name &amp; Year</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Methodology Adapted</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Key Findings</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rgbClr val="666666"/>
                          </a:solidFill>
                          <a:latin typeface="Times New Roman"/>
                          <a:ea typeface="Times New Roman"/>
                          <a:cs typeface="Times New Roman"/>
                          <a:sym typeface="Times New Roman"/>
                        </a:rPr>
                        <a:t>Gaps</a:t>
                      </a:r>
                      <a:endParaRPr b="1" sz="1400" u="none" cap="none" strike="noStrike">
                        <a:solidFill>
                          <a:srgbClr val="666666"/>
                        </a:solidFill>
                        <a:latin typeface="Times New Roman"/>
                        <a:ea typeface="Times New Roman"/>
                        <a:cs typeface="Times New Roman"/>
                        <a:sym typeface="Times New Roman"/>
                      </a:endParaRPr>
                    </a:p>
                  </a:txBody>
                  <a:tcPr marT="91425" marB="91425" marR="91425" marL="91425"/>
                </a:tc>
              </a:tr>
              <a:tr h="17679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1</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A Survey of Stock Price Prediction of Netflix Using Machine Learning</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A.Gopala krishna, K.Tanuja, G. Pallavi, G. Tarun Kalyan</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International Journal of Innovative Science and Research Technology  &amp; 5,May-2023</a:t>
                      </a:r>
                      <a:endParaRPr sz="14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Machine Learning, Support Vector Machine.</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Recurrent Neural Netwoks(RNN)</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Limited External Factors, Model Interpretability, Overfitting Risk.</a:t>
                      </a:r>
                      <a:endParaRPr sz="1400" u="none" cap="none" strike="noStrike">
                        <a:latin typeface="Times New Roman"/>
                        <a:ea typeface="Times New Roman"/>
                        <a:cs typeface="Times New Roman"/>
                        <a:sym typeface="Times New Roman"/>
                      </a:endParaRPr>
                    </a:p>
                  </a:txBody>
                  <a:tcPr marT="91425" marB="91425" marR="91425" marL="91425"/>
                </a:tc>
              </a:tr>
              <a:tr h="14060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2</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Netflix Stock Price Movements Insights from Data Mining</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V. Gowri,B. Harish, Fahad Ahmed, M. Srinath</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IEEE 2nd Mysore Sub Section International Conference, 2022.</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Prediction algorithm, Data Models, Decision Trees.</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Machine Learning as a Tool for Stock Price Prediction</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Limited Scope of Data, Model Overfitting.</a:t>
                      </a:r>
                      <a:endParaRPr sz="14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227275" y="458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graphicFrame>
        <p:nvGraphicFramePr>
          <p:cNvPr id="119" name="Google Shape;119;p18"/>
          <p:cNvGraphicFramePr/>
          <p:nvPr/>
        </p:nvGraphicFramePr>
        <p:xfrm>
          <a:off x="38" y="1248825"/>
          <a:ext cx="3000000" cy="3000000"/>
        </p:xfrm>
        <a:graphic>
          <a:graphicData uri="http://schemas.openxmlformats.org/drawingml/2006/table">
            <a:tbl>
              <a:tblPr>
                <a:noFill/>
                <a:tableStyleId>{680C3D50-A11E-47CE-B016-0AAAA16DD137}</a:tableStyleId>
              </a:tblPr>
              <a:tblGrid>
                <a:gridCol w="1306275"/>
                <a:gridCol w="1306275"/>
                <a:gridCol w="1306275"/>
                <a:gridCol w="1306275"/>
                <a:gridCol w="1306275"/>
                <a:gridCol w="1306275"/>
                <a:gridCol w="1306275"/>
              </a:tblGrid>
              <a:tr h="20272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3</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Stock Prediction Using ARIMA</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Rishabh Sharma, Rajeev Sharma, Shanmugasudaram Hariharan</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International Conference on Computational Intelligence and Computing Applications(ICCICA)</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Analytical models, Accuracy, Predictive models, Computational efficiency.</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Efficacy of the ARIMA Model, Potential for Hybrid Models, Reliability in Stock Forecasting.</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Model Limitations in Complex Market Conditions, Comparative Model Evaluation.</a:t>
                      </a:r>
                      <a:endParaRPr sz="1400" u="none" cap="none" strike="noStrike">
                        <a:latin typeface="Times New Roman"/>
                        <a:ea typeface="Times New Roman"/>
                        <a:cs typeface="Times New Roman"/>
                        <a:sym typeface="Times New Roman"/>
                      </a:endParaRPr>
                    </a:p>
                  </a:txBody>
                  <a:tcPr marT="91425" marB="91425" marR="91425" marL="91425"/>
                </a:tc>
              </a:tr>
              <a:tr h="19166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4</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Analysis of a Stock Exchange and Future Prediction Using LSTM</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B.Shivani, S. Govinda Rao</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4th International Conference on Recent Trends in Computer Science and Technology.</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Machine Learning,Deep Learning,Lstm</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Adaption of Machine Learning and Deep Learning for stock Prediction.</a:t>
                      </a:r>
                      <a:endParaRPr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Times New Roman"/>
                          <a:ea typeface="Times New Roman"/>
                          <a:cs typeface="Times New Roman"/>
                          <a:sym typeface="Times New Roman"/>
                        </a:rPr>
                        <a:t>Lack of Consideration for External Factors, Lack of Interpretability, Model Scalability.</a:t>
                      </a:r>
                      <a:endParaRPr sz="14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819150" y="579350"/>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n">
                <a:latin typeface="Times New Roman"/>
                <a:ea typeface="Times New Roman"/>
                <a:cs typeface="Times New Roman"/>
                <a:sym typeface="Times New Roman"/>
              </a:rPr>
              <a:t>EXISTING SYSTEMS</a:t>
            </a:r>
            <a:endParaRPr>
              <a:latin typeface="Times New Roman"/>
              <a:ea typeface="Times New Roman"/>
              <a:cs typeface="Times New Roman"/>
              <a:sym typeface="Times New Roman"/>
            </a:endParaRPr>
          </a:p>
        </p:txBody>
      </p:sp>
      <p:sp>
        <p:nvSpPr>
          <p:cNvPr id="125" name="Google Shape;125;p19"/>
          <p:cNvSpPr txBox="1"/>
          <p:nvPr>
            <p:ph idx="1" type="body"/>
          </p:nvPr>
        </p:nvSpPr>
        <p:spPr>
          <a:xfrm>
            <a:off x="819150" y="1297400"/>
            <a:ext cx="7505700" cy="3760200"/>
          </a:xfrm>
          <a:prstGeom prst="rect">
            <a:avLst/>
          </a:prstGeom>
          <a:noFill/>
          <a:ln>
            <a:noFill/>
          </a:ln>
        </p:spPr>
        <p:txBody>
          <a:bodyPr anchorCtr="0" anchor="t" bIns="91425" lIns="91425" spcFirstLastPara="1" rIns="91425" wrap="square" tIns="91425">
            <a:normAutofit fontScale="40000" lnSpcReduction="10000"/>
          </a:bodyPr>
          <a:lstStyle/>
          <a:p>
            <a:pPr indent="0" lvl="0" marL="0" rtl="0" algn="l">
              <a:lnSpc>
                <a:spcPct val="115000"/>
              </a:lnSpc>
              <a:spcBef>
                <a:spcPts val="0"/>
              </a:spcBef>
              <a:spcAft>
                <a:spcPts val="0"/>
              </a:spcAft>
              <a:buSzPct val="232142"/>
              <a:buNone/>
            </a:pPr>
            <a:r>
              <a:t/>
            </a:r>
            <a:endParaRPr sz="1400">
              <a:latin typeface="Times New Roman"/>
              <a:ea typeface="Times New Roman"/>
              <a:cs typeface="Times New Roman"/>
              <a:sym typeface="Times New Roman"/>
            </a:endParaRPr>
          </a:p>
          <a:p>
            <a:pPr indent="-322409" lvl="0" marL="457200" rtl="0" algn="l">
              <a:lnSpc>
                <a:spcPct val="115000"/>
              </a:lnSpc>
              <a:spcBef>
                <a:spcPts val="1200"/>
              </a:spcBef>
              <a:spcAft>
                <a:spcPts val="0"/>
              </a:spcAft>
              <a:buClr>
                <a:srgbClr val="000000"/>
              </a:buClr>
              <a:buSzPct val="99972"/>
              <a:buFont typeface="Arial"/>
              <a:buChar char="●"/>
            </a:pPr>
            <a:r>
              <a:rPr lang="en" sz="3691">
                <a:latin typeface="Times New Roman"/>
                <a:ea typeface="Times New Roman"/>
                <a:cs typeface="Times New Roman"/>
                <a:sym typeface="Times New Roman"/>
              </a:rPr>
              <a:t>Predicting stock prices is influenced by various factors, including market trends, economic indicators, company performance, and global events.</a:t>
            </a:r>
            <a:endParaRPr sz="3691">
              <a:latin typeface="Times New Roman"/>
              <a:ea typeface="Times New Roman"/>
              <a:cs typeface="Times New Roman"/>
              <a:sym typeface="Times New Roman"/>
            </a:endParaRPr>
          </a:p>
          <a:p>
            <a:pPr indent="-322409" lvl="0" marL="457200" rtl="0" algn="l">
              <a:lnSpc>
                <a:spcPct val="115000"/>
              </a:lnSpc>
              <a:spcBef>
                <a:spcPts val="0"/>
              </a:spcBef>
              <a:spcAft>
                <a:spcPts val="0"/>
              </a:spcAft>
              <a:buClr>
                <a:srgbClr val="000000"/>
              </a:buClr>
              <a:buSzPct val="99972"/>
              <a:buFont typeface="Arial"/>
              <a:buChar char="●"/>
            </a:pPr>
            <a:r>
              <a:rPr lang="en" sz="3691">
                <a:latin typeface="Times New Roman"/>
                <a:ea typeface="Times New Roman"/>
                <a:cs typeface="Times New Roman"/>
                <a:sym typeface="Times New Roman"/>
              </a:rPr>
              <a:t>Machine learning algorithms like regression models, neural networks, and support vector machines can analyze historical data to identify patterns and make predictions.</a:t>
            </a:r>
            <a:endParaRPr sz="3691">
              <a:latin typeface="Times New Roman"/>
              <a:ea typeface="Times New Roman"/>
              <a:cs typeface="Times New Roman"/>
              <a:sym typeface="Times New Roman"/>
            </a:endParaRPr>
          </a:p>
          <a:p>
            <a:pPr indent="-322409" lvl="0" marL="457200" rtl="0" algn="l">
              <a:lnSpc>
                <a:spcPct val="115000"/>
              </a:lnSpc>
              <a:spcBef>
                <a:spcPts val="0"/>
              </a:spcBef>
              <a:spcAft>
                <a:spcPts val="0"/>
              </a:spcAft>
              <a:buClr>
                <a:srgbClr val="000000"/>
              </a:buClr>
              <a:buSzPct val="99972"/>
              <a:buFont typeface="Arial"/>
              <a:buChar char="●"/>
            </a:pPr>
            <a:r>
              <a:rPr lang="en" sz="3691">
                <a:latin typeface="Times New Roman"/>
                <a:ea typeface="Times New Roman"/>
                <a:cs typeface="Times New Roman"/>
                <a:sym typeface="Times New Roman"/>
              </a:rPr>
              <a:t>For forecasting Netflix's stock price, relevant data like historical prices, market trends, economic indicators, and news articles should be collected.</a:t>
            </a:r>
            <a:endParaRPr sz="3691">
              <a:latin typeface="Times New Roman"/>
              <a:ea typeface="Times New Roman"/>
              <a:cs typeface="Times New Roman"/>
              <a:sym typeface="Times New Roman"/>
            </a:endParaRPr>
          </a:p>
          <a:p>
            <a:pPr indent="-322409" lvl="0" marL="457200" rtl="0" algn="l">
              <a:lnSpc>
                <a:spcPct val="115000"/>
              </a:lnSpc>
              <a:spcBef>
                <a:spcPts val="0"/>
              </a:spcBef>
              <a:spcAft>
                <a:spcPts val="0"/>
              </a:spcAft>
              <a:buClr>
                <a:srgbClr val="000000"/>
              </a:buClr>
              <a:buSzPct val="99972"/>
              <a:buFont typeface="Arial"/>
              <a:buChar char="●"/>
            </a:pPr>
            <a:r>
              <a:rPr lang="en" sz="3691">
                <a:latin typeface="Times New Roman"/>
                <a:ea typeface="Times New Roman"/>
                <a:cs typeface="Times New Roman"/>
                <a:sym typeface="Times New Roman"/>
              </a:rPr>
              <a:t>Machine learning models may not capture all influencing factors, leading to inherent uncertainty in predictions.</a:t>
            </a:r>
            <a:endParaRPr sz="3691">
              <a:latin typeface="Times New Roman"/>
              <a:ea typeface="Times New Roman"/>
              <a:cs typeface="Times New Roman"/>
              <a:sym typeface="Times New Roman"/>
            </a:endParaRPr>
          </a:p>
          <a:p>
            <a:pPr indent="-322409" lvl="0" marL="457200" rtl="0" algn="l">
              <a:lnSpc>
                <a:spcPct val="115000"/>
              </a:lnSpc>
              <a:spcBef>
                <a:spcPts val="0"/>
              </a:spcBef>
              <a:spcAft>
                <a:spcPts val="0"/>
              </a:spcAft>
              <a:buClr>
                <a:srgbClr val="000000"/>
              </a:buClr>
              <a:buSzPct val="99972"/>
              <a:buFont typeface="Arial"/>
              <a:buChar char="●"/>
            </a:pPr>
            <a:r>
              <a:rPr lang="en" sz="3691">
                <a:latin typeface="Times New Roman"/>
                <a:ea typeface="Times New Roman"/>
                <a:cs typeface="Times New Roman"/>
                <a:sym typeface="Times New Roman"/>
              </a:rPr>
              <a:t>Caution is necessary when using these predictions for investment decisions, and consulting a financial advisor is recommended.</a:t>
            </a:r>
            <a:endParaRPr sz="3691">
              <a:latin typeface="Times New Roman"/>
              <a:ea typeface="Times New Roman"/>
              <a:cs typeface="Times New Roman"/>
              <a:sym typeface="Times New Roman"/>
            </a:endParaRPr>
          </a:p>
          <a:p>
            <a:pPr indent="0" lvl="0" marL="0" rtl="0" algn="l">
              <a:lnSpc>
                <a:spcPct val="115000"/>
              </a:lnSpc>
              <a:spcBef>
                <a:spcPts val="1200"/>
              </a:spcBef>
              <a:spcAft>
                <a:spcPts val="0"/>
              </a:spcAft>
              <a:buSzPct val="88028"/>
              <a:buNone/>
            </a:pPr>
            <a:r>
              <a:t/>
            </a:r>
            <a:endParaRPr sz="3691">
              <a:latin typeface="Times New Roman"/>
              <a:ea typeface="Times New Roman"/>
              <a:cs typeface="Times New Roman"/>
              <a:sym typeface="Times New Roman"/>
            </a:endParaRPr>
          </a:p>
          <a:p>
            <a:pPr indent="0" lvl="0" marL="0" rtl="0" algn="just">
              <a:lnSpc>
                <a:spcPct val="115000"/>
              </a:lnSpc>
              <a:spcBef>
                <a:spcPts val="0"/>
              </a:spcBef>
              <a:spcAft>
                <a:spcPts val="0"/>
              </a:spcAft>
              <a:buSzPct val="100000"/>
              <a:buNone/>
            </a:pPr>
            <a:r>
              <a:t/>
            </a:r>
            <a:endParaRPr sz="3250">
              <a:latin typeface="Times New Roman"/>
              <a:ea typeface="Times New Roman"/>
              <a:cs typeface="Times New Roman"/>
              <a:sym typeface="Times New Roman"/>
            </a:endParaRPr>
          </a:p>
          <a:p>
            <a:pPr indent="0" lvl="0" marL="0" rtl="0" algn="l">
              <a:lnSpc>
                <a:spcPct val="115000"/>
              </a:lnSpc>
              <a:spcBef>
                <a:spcPts val="1200"/>
              </a:spcBef>
              <a:spcAft>
                <a:spcPts val="1200"/>
              </a:spcAft>
              <a:buSzPct val="100000"/>
              <a:buNone/>
            </a:pPr>
            <a:r>
              <a:t/>
            </a:r>
            <a:endParaRPr sz="325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819150" y="521825"/>
            <a:ext cx="7505700" cy="54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600"/>
              <a:buNone/>
            </a:pPr>
            <a:r>
              <a:rPr lang="en">
                <a:latin typeface="Times New Roman"/>
                <a:ea typeface="Times New Roman"/>
                <a:cs typeface="Times New Roman"/>
                <a:sym typeface="Times New Roman"/>
              </a:rPr>
              <a:t>PROPOSED SYSTEM</a:t>
            </a:r>
            <a:endParaRPr>
              <a:latin typeface="Times New Roman"/>
              <a:ea typeface="Times New Roman"/>
              <a:cs typeface="Times New Roman"/>
              <a:sym typeface="Times New Roman"/>
            </a:endParaRPr>
          </a:p>
          <a:p>
            <a:pPr indent="0" lvl="0" marL="0" rtl="0" algn="l">
              <a:lnSpc>
                <a:spcPct val="100000"/>
              </a:lnSpc>
              <a:spcBef>
                <a:spcPts val="0"/>
              </a:spcBef>
              <a:spcAft>
                <a:spcPts val="0"/>
              </a:spcAft>
              <a:buSzPts val="2600"/>
              <a:buNone/>
            </a:pPr>
            <a:r>
              <a:t/>
            </a:r>
            <a:endParaRPr b="1" sz="3300">
              <a:latin typeface="Times New Roman"/>
              <a:ea typeface="Times New Roman"/>
              <a:cs typeface="Times New Roman"/>
              <a:sym typeface="Times New Roman"/>
            </a:endParaRPr>
          </a:p>
        </p:txBody>
      </p:sp>
      <p:sp>
        <p:nvSpPr>
          <p:cNvPr id="131" name="Google Shape;131;p20"/>
          <p:cNvSpPr txBox="1"/>
          <p:nvPr>
            <p:ph idx="1" type="body"/>
          </p:nvPr>
        </p:nvSpPr>
        <p:spPr>
          <a:xfrm>
            <a:off x="365600" y="1351500"/>
            <a:ext cx="4337700" cy="3344400"/>
          </a:xfrm>
          <a:prstGeom prst="rect">
            <a:avLst/>
          </a:prstGeom>
          <a:noFill/>
          <a:ln>
            <a:noFill/>
          </a:ln>
        </p:spPr>
        <p:txBody>
          <a:bodyPr anchorCtr="0" anchor="t" bIns="91425" lIns="91425" spcFirstLastPara="1" rIns="91425" wrap="square" tIns="91425">
            <a:noAutofit/>
          </a:bodyPr>
          <a:lstStyle/>
          <a:p>
            <a:pPr indent="-311150" lvl="0" marL="457200" rtl="0" algn="just">
              <a:lnSpc>
                <a:spcPct val="115000"/>
              </a:lnSpc>
              <a:spcBef>
                <a:spcPts val="0"/>
              </a:spcBef>
              <a:spcAft>
                <a:spcPts val="0"/>
              </a:spcAft>
              <a:buSzPts val="1300"/>
              <a:buFont typeface="Times New Roman"/>
              <a:buChar char="●"/>
            </a:pPr>
            <a:r>
              <a:rPr lang="en">
                <a:latin typeface="Times New Roman"/>
                <a:ea typeface="Times New Roman"/>
                <a:cs typeface="Times New Roman"/>
                <a:sym typeface="Times New Roman"/>
              </a:rPr>
              <a:t>Collect historical stock prices for Netflix (NFLX) from sources like Yahoo Finance or Google Finance, including trading volume and price metrics. Enhance the dataset with external factors such as market indices, macroeconomic indicators, and sentiment analysis.</a:t>
            </a:r>
            <a:endParaRPr>
              <a:latin typeface="Times New Roman"/>
              <a:ea typeface="Times New Roman"/>
              <a:cs typeface="Times New Roman"/>
              <a:sym typeface="Times New Roman"/>
            </a:endParaRPr>
          </a:p>
          <a:p>
            <a:pPr indent="-311150" lvl="0" marL="457200" rtl="0" algn="just">
              <a:lnSpc>
                <a:spcPct val="115000"/>
              </a:lnSpc>
              <a:spcBef>
                <a:spcPts val="0"/>
              </a:spcBef>
              <a:spcAft>
                <a:spcPts val="0"/>
              </a:spcAft>
              <a:buSzPts val="1300"/>
              <a:buFont typeface="Times New Roman"/>
              <a:buChar char="●"/>
            </a:pPr>
            <a:r>
              <a:rPr lang="en">
                <a:latin typeface="Times New Roman"/>
                <a:ea typeface="Times New Roman"/>
                <a:cs typeface="Times New Roman"/>
                <a:sym typeface="Times New Roman"/>
              </a:rPr>
              <a:t>Split the data into training, validation, and test sets, with recent data reserved for testing. Convert the time series into sequences with past observations to predict future values for LSTM input.</a:t>
            </a:r>
            <a:endParaRPr>
              <a:latin typeface="Times New Roman"/>
              <a:ea typeface="Times New Roman"/>
              <a:cs typeface="Times New Roman"/>
              <a:sym typeface="Times New Roman"/>
            </a:endParaRPr>
          </a:p>
          <a:p>
            <a:pPr indent="-311150" lvl="0" marL="457200" rtl="0" algn="just">
              <a:lnSpc>
                <a:spcPct val="115000"/>
              </a:lnSpc>
              <a:spcBef>
                <a:spcPts val="0"/>
              </a:spcBef>
              <a:spcAft>
                <a:spcPts val="0"/>
              </a:spcAft>
              <a:buSzPts val="1300"/>
              <a:buFont typeface="Times New Roman"/>
              <a:buChar char="●"/>
            </a:pPr>
            <a:r>
              <a:rPr lang="en">
                <a:latin typeface="Times New Roman"/>
                <a:ea typeface="Times New Roman"/>
                <a:cs typeface="Times New Roman"/>
                <a:sym typeface="Times New Roman"/>
              </a:rPr>
              <a:t>Deploy the trained model in a production environment to forecast with new data. Continuously monitor performance, retrain with updated data, and periodically update the model to adapt to market changes.</a:t>
            </a:r>
            <a:endParaRPr>
              <a:latin typeface="Times New Roman"/>
              <a:ea typeface="Times New Roman"/>
              <a:cs typeface="Times New Roman"/>
              <a:sym typeface="Times New Roman"/>
            </a:endParaRPr>
          </a:p>
        </p:txBody>
      </p:sp>
      <p:pic>
        <p:nvPicPr>
          <p:cNvPr id="132" name="Google Shape;132;p20"/>
          <p:cNvPicPr preferRelativeResize="0"/>
          <p:nvPr/>
        </p:nvPicPr>
        <p:blipFill rotWithShape="1">
          <a:blip r:embed="rId3">
            <a:alphaModFix/>
          </a:blip>
          <a:srcRect b="0" l="0" r="0" t="0"/>
          <a:stretch/>
        </p:blipFill>
        <p:spPr>
          <a:xfrm>
            <a:off x="4703300" y="1190775"/>
            <a:ext cx="4130325" cy="3429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663800" y="541650"/>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611">
                <a:latin typeface="Times New Roman"/>
                <a:ea typeface="Times New Roman"/>
                <a:cs typeface="Times New Roman"/>
                <a:sym typeface="Times New Roman"/>
              </a:rPr>
              <a:t>METHODOLOGY</a:t>
            </a:r>
            <a:endParaRPr sz="2611">
              <a:latin typeface="Times New Roman"/>
              <a:ea typeface="Times New Roman"/>
              <a:cs typeface="Times New Roman"/>
              <a:sym typeface="Times New Roman"/>
            </a:endParaRPr>
          </a:p>
        </p:txBody>
      </p:sp>
      <p:sp>
        <p:nvSpPr>
          <p:cNvPr id="138" name="Google Shape;138;p21"/>
          <p:cNvSpPr txBox="1"/>
          <p:nvPr>
            <p:ph idx="1" type="body"/>
          </p:nvPr>
        </p:nvSpPr>
        <p:spPr>
          <a:xfrm>
            <a:off x="727650" y="1630500"/>
            <a:ext cx="7688700" cy="351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300"/>
              <a:buNone/>
            </a:pPr>
            <a:r>
              <a:rPr lang="en">
                <a:latin typeface="Times New Roman"/>
                <a:ea typeface="Times New Roman"/>
                <a:cs typeface="Times New Roman"/>
                <a:sym typeface="Times New Roman"/>
              </a:rPr>
              <a:t>The methodology for the project "Forecasting Netflix Stock Prices with LSTM" involves several key steps:</a:t>
            </a:r>
            <a:endParaRPr>
              <a:latin typeface="Times New Roman"/>
              <a:ea typeface="Times New Roman"/>
              <a:cs typeface="Times New Roman"/>
              <a:sym typeface="Times New Roman"/>
            </a:endParaRPr>
          </a:p>
          <a:p>
            <a:pPr indent="-336550" lvl="0" marL="457200" rtl="0" algn="l">
              <a:lnSpc>
                <a:spcPct val="115000"/>
              </a:lnSpc>
              <a:spcBef>
                <a:spcPts val="1200"/>
              </a:spcBef>
              <a:spcAft>
                <a:spcPts val="0"/>
              </a:spcAft>
              <a:buSzPts val="1700"/>
              <a:buFont typeface="Times New Roman"/>
              <a:buChar char="●"/>
            </a:pPr>
            <a:r>
              <a:rPr b="1" lang="en" sz="1700">
                <a:latin typeface="Times New Roman"/>
                <a:ea typeface="Times New Roman"/>
                <a:cs typeface="Times New Roman"/>
                <a:sym typeface="Times New Roman"/>
              </a:rPr>
              <a:t>Data Collection</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b="1" lang="en" sz="1700">
                <a:latin typeface="Times New Roman"/>
                <a:ea typeface="Times New Roman"/>
                <a:cs typeface="Times New Roman"/>
                <a:sym typeface="Times New Roman"/>
              </a:rPr>
              <a:t>Data Preprocessing</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b="1" lang="en" sz="1700">
                <a:latin typeface="Times New Roman"/>
                <a:ea typeface="Times New Roman"/>
                <a:cs typeface="Times New Roman"/>
                <a:sym typeface="Times New Roman"/>
              </a:rPr>
              <a:t>Data Visualization and Analysis</a:t>
            </a:r>
            <a:endParaRPr b="1"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b="1" lang="en" sz="1700">
                <a:latin typeface="Times New Roman"/>
                <a:ea typeface="Times New Roman"/>
                <a:cs typeface="Times New Roman"/>
                <a:sym typeface="Times New Roman"/>
              </a:rPr>
              <a:t>Model Selection and Architecture</a:t>
            </a:r>
            <a:endParaRPr b="1"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b="1" lang="en" sz="1700">
                <a:latin typeface="Times New Roman"/>
                <a:ea typeface="Times New Roman"/>
                <a:cs typeface="Times New Roman"/>
                <a:sym typeface="Times New Roman"/>
              </a:rPr>
              <a:t>Model Training</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b="1" lang="en" sz="1700">
                <a:latin typeface="Times New Roman"/>
                <a:ea typeface="Times New Roman"/>
                <a:cs typeface="Times New Roman"/>
                <a:sym typeface="Times New Roman"/>
              </a:rPr>
              <a:t>Model Evaluation</a:t>
            </a:r>
            <a:endParaRPr sz="17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b="1" lang="en" sz="1700">
                <a:latin typeface="Times New Roman"/>
                <a:ea typeface="Times New Roman"/>
                <a:cs typeface="Times New Roman"/>
                <a:sym typeface="Times New Roman"/>
              </a:rPr>
              <a:t>Prediction and Deployment</a:t>
            </a:r>
            <a:endParaRPr b="1" sz="17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56675" y="626425"/>
            <a:ext cx="7505700" cy="95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2600"/>
              <a:buNone/>
            </a:pPr>
            <a:r>
              <a:rPr b="1" lang="en">
                <a:latin typeface="Times New Roman"/>
                <a:ea typeface="Times New Roman"/>
                <a:cs typeface="Times New Roman"/>
                <a:sym typeface="Times New Roman"/>
              </a:rPr>
              <a:t>SYSTEM REQUIREMENTS</a:t>
            </a:r>
            <a:endParaRPr b="1"/>
          </a:p>
        </p:txBody>
      </p:sp>
      <p:sp>
        <p:nvSpPr>
          <p:cNvPr id="144" name="Google Shape;144;p22"/>
          <p:cNvSpPr txBox="1"/>
          <p:nvPr>
            <p:ph idx="1" type="body"/>
          </p:nvPr>
        </p:nvSpPr>
        <p:spPr>
          <a:xfrm>
            <a:off x="819150" y="1318700"/>
            <a:ext cx="7505700" cy="3605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b="1" lang="en" sz="1900">
                <a:latin typeface="Times New Roman"/>
                <a:ea typeface="Times New Roman"/>
                <a:cs typeface="Times New Roman"/>
                <a:sym typeface="Times New Roman"/>
              </a:rPr>
              <a:t>Software Requirements</a:t>
            </a:r>
            <a:endParaRPr b="1" sz="19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Programming Language : Python</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Libraries and Frameworks :</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-Data manipulation and Analysis - Pandas, Numpy</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-Machine Learning - Scikit-Learn, Tensorflow for Keras</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-Data Visualization - Matplotlib, Seaborn</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-IDE/Text Editor - Jupyter Notebook, VS code, Pycharm</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Operating System - Windows, macOS, or Linux</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b="1" lang="en" sz="1900">
                <a:latin typeface="Times New Roman"/>
                <a:ea typeface="Times New Roman"/>
                <a:cs typeface="Times New Roman"/>
                <a:sym typeface="Times New Roman"/>
              </a:rPr>
              <a:t>Hardware Requirements</a:t>
            </a:r>
            <a:endParaRPr b="1" sz="19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Processor (CPU) : Dual-core processor (Intel i5 or equivalent)</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Memory (RAM) : 8 GB</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ts val="1300"/>
              <a:buNone/>
            </a:pPr>
            <a:r>
              <a:rPr lang="en" sz="1600">
                <a:latin typeface="Times New Roman"/>
                <a:ea typeface="Times New Roman"/>
                <a:cs typeface="Times New Roman"/>
                <a:sym typeface="Times New Roman"/>
              </a:rPr>
              <a:t>• Storage : 100 GB of free disk space</a:t>
            </a:r>
            <a:endParaRPr sz="1600">
              <a:latin typeface="Times New Roman"/>
              <a:ea typeface="Times New Roman"/>
              <a:cs typeface="Times New Roman"/>
              <a:sym typeface="Times New Roman"/>
            </a:endParaRPr>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727650" y="64742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840">
                <a:latin typeface="Times New Roman"/>
                <a:ea typeface="Times New Roman"/>
                <a:cs typeface="Times New Roman"/>
                <a:sym typeface="Times New Roman"/>
              </a:rPr>
              <a:t>DESIGN (Use Case):</a:t>
            </a:r>
            <a:endParaRPr sz="2840">
              <a:latin typeface="Times New Roman"/>
              <a:ea typeface="Times New Roman"/>
              <a:cs typeface="Times New Roman"/>
              <a:sym typeface="Times New Roman"/>
            </a:endParaRPr>
          </a:p>
        </p:txBody>
      </p:sp>
      <p:pic>
        <p:nvPicPr>
          <p:cNvPr id="150" name="Google Shape;150;p23"/>
          <p:cNvPicPr preferRelativeResize="0"/>
          <p:nvPr/>
        </p:nvPicPr>
        <p:blipFill>
          <a:blip r:embed="rId3">
            <a:alphaModFix/>
          </a:blip>
          <a:stretch>
            <a:fillRect/>
          </a:stretch>
        </p:blipFill>
        <p:spPr>
          <a:xfrm>
            <a:off x="1750175" y="1313150"/>
            <a:ext cx="5011753" cy="36560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727650" y="63642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840">
                <a:latin typeface="Times New Roman"/>
                <a:ea typeface="Times New Roman"/>
                <a:cs typeface="Times New Roman"/>
                <a:sym typeface="Times New Roman"/>
              </a:rPr>
              <a:t>DESIGN (Class Diagram):</a:t>
            </a:r>
            <a:endParaRPr sz="2840">
              <a:latin typeface="Times New Roman"/>
              <a:ea typeface="Times New Roman"/>
              <a:cs typeface="Times New Roman"/>
              <a:sym typeface="Times New Roman"/>
            </a:endParaRPr>
          </a:p>
        </p:txBody>
      </p:sp>
      <p:pic>
        <p:nvPicPr>
          <p:cNvPr id="156" name="Google Shape;156;p24"/>
          <p:cNvPicPr preferRelativeResize="0"/>
          <p:nvPr/>
        </p:nvPicPr>
        <p:blipFill>
          <a:blip r:embed="rId3">
            <a:alphaModFix/>
          </a:blip>
          <a:stretch>
            <a:fillRect/>
          </a:stretch>
        </p:blipFill>
        <p:spPr>
          <a:xfrm>
            <a:off x="1487525" y="1356850"/>
            <a:ext cx="5449205" cy="3667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597400" y="5814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1565"/>
              <a:buNone/>
            </a:pPr>
            <a:r>
              <a:rPr lang="en" sz="3155">
                <a:latin typeface="Times New Roman"/>
                <a:ea typeface="Times New Roman"/>
                <a:cs typeface="Times New Roman"/>
                <a:sym typeface="Times New Roman"/>
              </a:rPr>
              <a:t>DESIGN (Sequence Diagram):</a:t>
            </a:r>
            <a:endParaRPr/>
          </a:p>
        </p:txBody>
      </p:sp>
      <p:sp>
        <p:nvSpPr>
          <p:cNvPr id="162" name="Google Shape;162;p25"/>
          <p:cNvSpPr txBox="1"/>
          <p:nvPr>
            <p:ph idx="1" type="body"/>
          </p:nvPr>
        </p:nvSpPr>
        <p:spPr>
          <a:xfrm>
            <a:off x="729450" y="1287425"/>
            <a:ext cx="7688700" cy="363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63" name="Google Shape;163;p25"/>
          <p:cNvPicPr preferRelativeResize="0"/>
          <p:nvPr/>
        </p:nvPicPr>
        <p:blipFill rotWithShape="1">
          <a:blip r:embed="rId3">
            <a:alphaModFix/>
          </a:blip>
          <a:srcRect b="0" l="0" r="0" t="0"/>
          <a:stretch/>
        </p:blipFill>
        <p:spPr>
          <a:xfrm>
            <a:off x="729450" y="1287425"/>
            <a:ext cx="7446224" cy="3631199"/>
          </a:xfrm>
          <a:prstGeom prst="rect">
            <a:avLst/>
          </a:prstGeom>
          <a:noFill/>
          <a:ln>
            <a:noFill/>
          </a:ln>
        </p:spPr>
      </p:pic>
      <p:sp>
        <p:nvSpPr>
          <p:cNvPr id="164" name="Google Shape;164;p25"/>
          <p:cNvSpPr txBox="1"/>
          <p:nvPr/>
        </p:nvSpPr>
        <p:spPr>
          <a:xfrm>
            <a:off x="-297100" y="1562525"/>
            <a:ext cx="63381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0"/>
          <a:stretch/>
        </p:blipFill>
        <p:spPr>
          <a:xfrm>
            <a:off x="911650" y="1159000"/>
            <a:ext cx="6859000" cy="3869651"/>
          </a:xfrm>
          <a:prstGeom prst="rect">
            <a:avLst/>
          </a:prstGeom>
          <a:noFill/>
          <a:ln>
            <a:noFill/>
          </a:ln>
        </p:spPr>
      </p:pic>
      <p:sp>
        <p:nvSpPr>
          <p:cNvPr id="170" name="Google Shape;170;p26"/>
          <p:cNvSpPr txBox="1"/>
          <p:nvPr/>
        </p:nvSpPr>
        <p:spPr>
          <a:xfrm>
            <a:off x="261275" y="479000"/>
            <a:ext cx="7794300" cy="10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dk2"/>
                </a:solidFill>
                <a:latin typeface="Times New Roman"/>
                <a:ea typeface="Times New Roman"/>
                <a:cs typeface="Times New Roman"/>
                <a:sym typeface="Times New Roman"/>
              </a:rPr>
              <a:t>IMPLEMENTATION:</a:t>
            </a:r>
            <a:endParaRPr b="1" sz="2800">
              <a:solidFill>
                <a:schemeClr val="dk2"/>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nvSpPr>
        <p:spPr>
          <a:xfrm>
            <a:off x="3422125" y="165050"/>
            <a:ext cx="671100" cy="23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accent1"/>
              </a:solidFill>
              <a:latin typeface="Lato"/>
              <a:ea typeface="Lato"/>
              <a:cs typeface="Lato"/>
              <a:sym typeface="Lato"/>
            </a:endParaRPr>
          </a:p>
        </p:txBody>
      </p:sp>
      <p:pic>
        <p:nvPicPr>
          <p:cNvPr id="176" name="Google Shape;176;p27"/>
          <p:cNvPicPr preferRelativeResize="0"/>
          <p:nvPr/>
        </p:nvPicPr>
        <p:blipFill>
          <a:blip r:embed="rId3">
            <a:alphaModFix/>
          </a:blip>
          <a:stretch>
            <a:fillRect/>
          </a:stretch>
        </p:blipFill>
        <p:spPr>
          <a:xfrm>
            <a:off x="755125" y="559375"/>
            <a:ext cx="7157101" cy="44426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8"/>
          <p:cNvPicPr preferRelativeResize="0"/>
          <p:nvPr/>
        </p:nvPicPr>
        <p:blipFill>
          <a:blip r:embed="rId3">
            <a:alphaModFix/>
          </a:blip>
          <a:stretch>
            <a:fillRect/>
          </a:stretch>
        </p:blipFill>
        <p:spPr>
          <a:xfrm>
            <a:off x="152400" y="152400"/>
            <a:ext cx="8766587" cy="48387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9"/>
          <p:cNvPicPr preferRelativeResize="0"/>
          <p:nvPr/>
        </p:nvPicPr>
        <p:blipFill>
          <a:blip r:embed="rId3">
            <a:alphaModFix/>
          </a:blip>
          <a:stretch>
            <a:fillRect/>
          </a:stretch>
        </p:blipFill>
        <p:spPr>
          <a:xfrm>
            <a:off x="218050" y="152400"/>
            <a:ext cx="7157949" cy="48387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0"/>
          <p:cNvPicPr preferRelativeResize="0"/>
          <p:nvPr/>
        </p:nvPicPr>
        <p:blipFill>
          <a:blip r:embed="rId3">
            <a:alphaModFix/>
          </a:blip>
          <a:stretch>
            <a:fillRect/>
          </a:stretch>
        </p:blipFill>
        <p:spPr>
          <a:xfrm>
            <a:off x="152400" y="152400"/>
            <a:ext cx="8448276" cy="4838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1"/>
          <p:cNvPicPr preferRelativeResize="0"/>
          <p:nvPr/>
        </p:nvPicPr>
        <p:blipFill rotWithShape="1">
          <a:blip r:embed="rId3">
            <a:alphaModFix/>
          </a:blip>
          <a:srcRect b="0" l="0" r="0" t="0"/>
          <a:stretch/>
        </p:blipFill>
        <p:spPr>
          <a:xfrm>
            <a:off x="142075" y="696675"/>
            <a:ext cx="8765824" cy="4326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2"/>
          <p:cNvPicPr preferRelativeResize="0"/>
          <p:nvPr/>
        </p:nvPicPr>
        <p:blipFill>
          <a:blip r:embed="rId3">
            <a:alphaModFix/>
          </a:blip>
          <a:stretch>
            <a:fillRect/>
          </a:stretch>
        </p:blipFill>
        <p:spPr>
          <a:xfrm>
            <a:off x="152400" y="152400"/>
            <a:ext cx="8839200" cy="483393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3"/>
          <p:cNvPicPr preferRelativeResize="0"/>
          <p:nvPr/>
        </p:nvPicPr>
        <p:blipFill>
          <a:blip r:embed="rId3">
            <a:alphaModFix/>
          </a:blip>
          <a:stretch>
            <a:fillRect/>
          </a:stretch>
        </p:blipFill>
        <p:spPr>
          <a:xfrm>
            <a:off x="108625" y="658888"/>
            <a:ext cx="8839200" cy="382571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727650" y="62920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CONCLUSION</a:t>
            </a:r>
            <a:endParaRPr/>
          </a:p>
        </p:txBody>
      </p:sp>
      <p:sp>
        <p:nvSpPr>
          <p:cNvPr id="212" name="Google Shape;212;p34"/>
          <p:cNvSpPr txBox="1"/>
          <p:nvPr>
            <p:ph idx="1" type="body"/>
          </p:nvPr>
        </p:nvSpPr>
        <p:spPr>
          <a:xfrm>
            <a:off x="729450" y="1575875"/>
            <a:ext cx="7688700" cy="329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 sz="1700">
                <a:latin typeface="Times New Roman"/>
                <a:ea typeface="Times New Roman"/>
                <a:cs typeface="Times New Roman"/>
                <a:sym typeface="Times New Roman"/>
              </a:rPr>
              <a:t>This project used Long Short-Term Memory (LSTM) neural networks to forecast Netflix (NFLX) stock prices based on 13 years of historical data. The LSTM model effectively captured complex temporal patterns, resulting in accurate predictions. Key steps included data collection from Yahoo Finance, thorough preprocessing, and structuring the data into sequences. Exploratory Data Analysis (EDA) using tools like candlestick charts and correlation analysis helped identify key factors influencing stock prices. Despite challenges with data quality, model interpretability, and real-time integration, the project highlighted LSTM potential in stock market forecasting. Future work could include incorporating sentiment analysis and exploring alternative deep learning models.</a:t>
            </a:r>
            <a:endParaRPr sz="17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629175" y="5466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FUTURE SCOPE</a:t>
            </a:r>
            <a:endParaRPr/>
          </a:p>
        </p:txBody>
      </p:sp>
      <p:sp>
        <p:nvSpPr>
          <p:cNvPr id="218" name="Google Shape;218;p35"/>
          <p:cNvSpPr txBox="1"/>
          <p:nvPr>
            <p:ph idx="1" type="body"/>
          </p:nvPr>
        </p:nvSpPr>
        <p:spPr>
          <a:xfrm>
            <a:off x="729450" y="1287375"/>
            <a:ext cx="7688700" cy="3810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SzPts val="1300"/>
              <a:buNone/>
            </a:pPr>
            <a:r>
              <a:rPr b="1" lang="en" sz="1200">
                <a:latin typeface="Times New Roman"/>
                <a:ea typeface="Times New Roman"/>
                <a:cs typeface="Times New Roman"/>
                <a:sym typeface="Times New Roman"/>
              </a:rPr>
              <a:t>1. Feature Engineering:</a:t>
            </a:r>
            <a:endParaRPr b="1" sz="1200">
              <a:latin typeface="Times New Roman"/>
              <a:ea typeface="Times New Roman"/>
              <a:cs typeface="Times New Roman"/>
              <a:sym typeface="Times New Roman"/>
            </a:endParaRPr>
          </a:p>
          <a:p>
            <a:pPr indent="0" lvl="0" marL="0" rtl="0" algn="just">
              <a:lnSpc>
                <a:spcPct val="115000"/>
              </a:lnSpc>
              <a:spcBef>
                <a:spcPts val="1200"/>
              </a:spcBef>
              <a:spcAft>
                <a:spcPts val="0"/>
              </a:spcAft>
              <a:buSzPts val="1300"/>
              <a:buNone/>
            </a:pPr>
            <a:r>
              <a:rPr lang="en" sz="1200">
                <a:latin typeface="Times New Roman"/>
                <a:ea typeface="Times New Roman"/>
                <a:cs typeface="Times New Roman"/>
                <a:sym typeface="Times New Roman"/>
              </a:rPr>
              <a:t>Add Technical Indicators: Incorporate Moving Averages (MA), Relative Strength Index (RSI), MACD, and Bollinger Bands to enhance stock trend prediction.</a:t>
            </a:r>
            <a:endParaRPr sz="1200">
              <a:latin typeface="Times New Roman"/>
              <a:ea typeface="Times New Roman"/>
              <a:cs typeface="Times New Roman"/>
              <a:sym typeface="Times New Roman"/>
            </a:endParaRPr>
          </a:p>
          <a:p>
            <a:pPr indent="0" lvl="0" marL="0" rtl="0" algn="just">
              <a:lnSpc>
                <a:spcPct val="115000"/>
              </a:lnSpc>
              <a:spcBef>
                <a:spcPts val="1400"/>
              </a:spcBef>
              <a:spcAft>
                <a:spcPts val="0"/>
              </a:spcAft>
              <a:buSzPts val="1300"/>
              <a:buNone/>
            </a:pPr>
            <a:r>
              <a:rPr b="1" lang="en" sz="1200">
                <a:latin typeface="Times New Roman"/>
                <a:ea typeface="Times New Roman"/>
                <a:cs typeface="Times New Roman"/>
                <a:sym typeface="Times New Roman"/>
              </a:rPr>
              <a:t>2. Model Improvement:</a:t>
            </a:r>
            <a:endParaRPr b="1" sz="1200">
              <a:latin typeface="Times New Roman"/>
              <a:ea typeface="Times New Roman"/>
              <a:cs typeface="Times New Roman"/>
              <a:sym typeface="Times New Roman"/>
            </a:endParaRPr>
          </a:p>
          <a:p>
            <a:pPr indent="0" lvl="0" marL="0" rtl="0" algn="just">
              <a:lnSpc>
                <a:spcPct val="115000"/>
              </a:lnSpc>
              <a:spcBef>
                <a:spcPts val="1200"/>
              </a:spcBef>
              <a:spcAft>
                <a:spcPts val="0"/>
              </a:spcAft>
              <a:buSzPts val="1300"/>
              <a:buNone/>
            </a:pPr>
            <a:r>
              <a:rPr lang="en" sz="1200">
                <a:latin typeface="Times New Roman"/>
                <a:ea typeface="Times New Roman"/>
                <a:cs typeface="Times New Roman"/>
                <a:sym typeface="Times New Roman"/>
              </a:rPr>
              <a:t>Hyperparameter Tuning: Optimize LSTM model parameters like the number of layers, units, learning rate, and batch size using grid search or random search.</a:t>
            </a:r>
            <a:endParaRPr sz="1200">
              <a:latin typeface="Times New Roman"/>
              <a:ea typeface="Times New Roman"/>
              <a:cs typeface="Times New Roman"/>
              <a:sym typeface="Times New Roman"/>
            </a:endParaRPr>
          </a:p>
          <a:p>
            <a:pPr indent="0" lvl="0" marL="0" rtl="0" algn="just">
              <a:lnSpc>
                <a:spcPct val="115000"/>
              </a:lnSpc>
              <a:spcBef>
                <a:spcPts val="1400"/>
              </a:spcBef>
              <a:spcAft>
                <a:spcPts val="0"/>
              </a:spcAft>
              <a:buSzPts val="1300"/>
              <a:buNone/>
            </a:pPr>
            <a:r>
              <a:rPr b="1" lang="en" sz="1200">
                <a:latin typeface="Times New Roman"/>
                <a:ea typeface="Times New Roman"/>
                <a:cs typeface="Times New Roman"/>
                <a:sym typeface="Times New Roman"/>
              </a:rPr>
              <a:t>3. Prediction and Evaluation:</a:t>
            </a:r>
            <a:endParaRPr b="1" sz="1200">
              <a:latin typeface="Times New Roman"/>
              <a:ea typeface="Times New Roman"/>
              <a:cs typeface="Times New Roman"/>
              <a:sym typeface="Times New Roman"/>
            </a:endParaRPr>
          </a:p>
          <a:p>
            <a:pPr indent="0" lvl="0" marL="0" rtl="0" algn="just">
              <a:lnSpc>
                <a:spcPct val="115000"/>
              </a:lnSpc>
              <a:spcBef>
                <a:spcPts val="1200"/>
              </a:spcBef>
              <a:spcAft>
                <a:spcPts val="0"/>
              </a:spcAft>
              <a:buSzPts val="1300"/>
              <a:buNone/>
            </a:pPr>
            <a:r>
              <a:rPr lang="en" sz="1200">
                <a:latin typeface="Times New Roman"/>
                <a:ea typeface="Times New Roman"/>
                <a:cs typeface="Times New Roman"/>
                <a:sym typeface="Times New Roman"/>
              </a:rPr>
              <a:t>Rolling Window Forecasting: Use a rolling window approach to predict stock prices, allowing for more recent data-based predictions.</a:t>
            </a:r>
            <a:endParaRPr sz="1200">
              <a:latin typeface="Times New Roman"/>
              <a:ea typeface="Times New Roman"/>
              <a:cs typeface="Times New Roman"/>
              <a:sym typeface="Times New Roman"/>
            </a:endParaRPr>
          </a:p>
          <a:p>
            <a:pPr indent="0" lvl="0" marL="0" rtl="0" algn="just">
              <a:lnSpc>
                <a:spcPct val="115000"/>
              </a:lnSpc>
              <a:spcBef>
                <a:spcPts val="1400"/>
              </a:spcBef>
              <a:spcAft>
                <a:spcPts val="0"/>
              </a:spcAft>
              <a:buSzPts val="1300"/>
              <a:buNone/>
            </a:pPr>
            <a:r>
              <a:rPr b="1" lang="en" sz="1200">
                <a:latin typeface="Times New Roman"/>
                <a:ea typeface="Times New Roman"/>
                <a:cs typeface="Times New Roman"/>
                <a:sym typeface="Times New Roman"/>
              </a:rPr>
              <a:t>4. Enhanced Data Visualization:</a:t>
            </a:r>
            <a:endParaRPr b="1" sz="1200">
              <a:latin typeface="Times New Roman"/>
              <a:ea typeface="Times New Roman"/>
              <a:cs typeface="Times New Roman"/>
              <a:sym typeface="Times New Roman"/>
            </a:endParaRPr>
          </a:p>
          <a:p>
            <a:pPr indent="0" lvl="0" marL="0" rtl="0" algn="just">
              <a:lnSpc>
                <a:spcPct val="115000"/>
              </a:lnSpc>
              <a:spcBef>
                <a:spcPts val="1400"/>
              </a:spcBef>
              <a:spcAft>
                <a:spcPts val="0"/>
              </a:spcAft>
              <a:buSzPts val="1300"/>
              <a:buNone/>
            </a:pPr>
            <a:r>
              <a:rPr lang="en" sz="1200">
                <a:latin typeface="Times New Roman"/>
                <a:ea typeface="Times New Roman"/>
                <a:cs typeface="Times New Roman"/>
                <a:sym typeface="Times New Roman"/>
              </a:rPr>
              <a:t>Advanced Plots: Add moving averages and trendlines to compare actual stock prices with predictions for better visualization.</a:t>
            </a:r>
            <a:endParaRPr sz="1200">
              <a:latin typeface="Times New Roman"/>
              <a:ea typeface="Times New Roman"/>
              <a:cs typeface="Times New Roman"/>
              <a:sym typeface="Times New Roman"/>
            </a:endParaRPr>
          </a:p>
          <a:p>
            <a:pPr indent="0" lvl="0" marL="0" rtl="0" algn="just">
              <a:lnSpc>
                <a:spcPct val="115000"/>
              </a:lnSpc>
              <a:spcBef>
                <a:spcPts val="400"/>
              </a:spcBef>
              <a:spcAft>
                <a:spcPts val="1200"/>
              </a:spcAft>
              <a:buSzPts val="1300"/>
              <a:buNone/>
            </a:pPr>
            <a:r>
              <a:t/>
            </a:r>
            <a:endParaRPr sz="12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idx="1" type="body"/>
          </p:nvPr>
        </p:nvSpPr>
        <p:spPr>
          <a:xfrm>
            <a:off x="819150" y="847550"/>
            <a:ext cx="7505700" cy="3591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224" name="Google Shape;224;p36"/>
          <p:cNvPicPr preferRelativeResize="0"/>
          <p:nvPr/>
        </p:nvPicPr>
        <p:blipFill rotWithShape="1">
          <a:blip r:embed="rId3">
            <a:alphaModFix/>
          </a:blip>
          <a:srcRect b="0" l="0" r="0" t="0"/>
          <a:stretch/>
        </p:blipFill>
        <p:spPr>
          <a:xfrm>
            <a:off x="220850" y="226800"/>
            <a:ext cx="8702300" cy="4702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